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80" r:id="rId6"/>
    <p:sldId id="281" r:id="rId7"/>
    <p:sldId id="282" r:id="rId8"/>
    <p:sldId id="283" r:id="rId9"/>
    <p:sldId id="284" r:id="rId10"/>
    <p:sldId id="285" r:id="rId11"/>
    <p:sldId id="286" r:id="rId12"/>
    <p:sldId id="260" r:id="rId13"/>
    <p:sldId id="261" r:id="rId14"/>
    <p:sldId id="262" r:id="rId15"/>
    <p:sldId id="263" r:id="rId16"/>
    <p:sldId id="270" r:id="rId17"/>
    <p:sldId id="271" r:id="rId18"/>
    <p:sldId id="272" r:id="rId19"/>
    <p:sldId id="273" r:id="rId20"/>
    <p:sldId id="264" r:id="rId21"/>
    <p:sldId id="274" r:id="rId22"/>
    <p:sldId id="275" r:id="rId23"/>
    <p:sldId id="265" r:id="rId24"/>
    <p:sldId id="266" r:id="rId25"/>
    <p:sldId id="267" r:id="rId26"/>
    <p:sldId id="276" r:id="rId27"/>
    <p:sldId id="277" r:id="rId28"/>
    <p:sldId id="278" r:id="rId29"/>
    <p:sldId id="279" r:id="rId30"/>
    <p:sldId id="268" r:id="rId31"/>
    <p:sldId id="269"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napToObjects="1">
      <p:cViewPr varScale="1">
        <p:scale>
          <a:sx n="67" d="100"/>
          <a:sy n="67" d="100"/>
        </p:scale>
        <p:origin x="-147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pPr/>
              <a:t>7/3/2026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pPr/>
              <a:t>7/3/2026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7/3/2026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7/3/2026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Spring Security + JWT + MySQL</a:t>
            </a:r>
          </a:p>
        </p:txBody>
      </p:sp>
      <p:sp>
        <p:nvSpPr>
          <p:cNvPr id="3" name="Subtitle 2"/>
          <p:cNvSpPr>
            <a:spLocks noGrp="1"/>
          </p:cNvSpPr>
          <p:nvPr>
            <p:ph type="subTitle" idx="1"/>
          </p:nvPr>
        </p:nvSpPr>
        <p:spPr/>
        <p:txBody>
          <a:bodyPr/>
          <a:lstStyle/>
          <a:p>
            <a:pPr>
              <a:defRPr sz="2800"/>
            </a:pPr>
            <a:r>
              <a:t>College Seminar Presentation</a:t>
            </a:r>
          </a:p>
          <a:p>
            <a:pPr>
              <a:defRPr sz="2800"/>
            </a:pPr>
            <a:r>
              <a:t>Registration &amp; Login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Pr>
              <a:defRPr sz="2400"/>
            </a:pPr>
            <a:r>
              <a:t>• Spring Security</a:t>
            </a:r>
          </a:p>
          <a:p>
            <a:pPr>
              <a:defRPr sz="2400"/>
            </a:pPr>
            <a:r>
              <a:t>• JWT</a:t>
            </a:r>
          </a:p>
          <a:p>
            <a:pPr>
              <a:defRPr sz="2400"/>
            </a:pPr>
            <a:r>
              <a:t>• Project Architecture</a:t>
            </a:r>
          </a:p>
          <a:p>
            <a:pPr>
              <a:defRPr sz="2400"/>
            </a:pPr>
            <a:r>
              <a:t>• Flow</a:t>
            </a:r>
          </a:p>
          <a:p>
            <a:pPr>
              <a:defRPr sz="2400"/>
            </a:pPr>
            <a:r>
              <a:t>• Code Modules</a:t>
            </a:r>
          </a:p>
          <a:p>
            <a:pPr>
              <a:defRPr sz="2400"/>
            </a:pPr>
            <a:r>
              <a:t>• APIs</a:t>
            </a:r>
          </a:p>
          <a:p>
            <a:pPr>
              <a:defRPr sz="2400"/>
            </a:pPr>
            <a:r>
              <a:t>• Testing</a:t>
            </a:r>
          </a:p>
          <a:p>
            <a:pPr>
              <a:defRPr sz="2400"/>
            </a:pPr>
            <a:r>
              <a:t>• Advantages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Spring Security?</a:t>
            </a:r>
          </a:p>
        </p:txBody>
      </p:sp>
      <p:sp>
        <p:nvSpPr>
          <p:cNvPr id="3" name="Content Placeholder 2"/>
          <p:cNvSpPr>
            <a:spLocks noGrp="1"/>
          </p:cNvSpPr>
          <p:nvPr>
            <p:ph idx="1"/>
          </p:nvPr>
        </p:nvSpPr>
        <p:spPr/>
        <p:txBody>
          <a:bodyPr/>
          <a:lstStyle/>
          <a:p>
            <a:pPr>
              <a:defRPr sz="2400"/>
            </a:pPr>
            <a:r>
              <a:t>Provides authentication and authorization.</a:t>
            </a:r>
          </a:p>
          <a:p>
            <a:pPr>
              <a:defRPr sz="2400"/>
            </a:pPr>
            <a:r>
              <a:t>Protects REST APIs.</a:t>
            </a:r>
          </a:p>
          <a:p>
            <a:pPr>
              <a:defRPr sz="2400"/>
            </a:pPr>
            <a:r>
              <a:t>Integrates with Spring Boot.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JWT?</a:t>
            </a:r>
          </a:p>
        </p:txBody>
      </p:sp>
      <p:sp>
        <p:nvSpPr>
          <p:cNvPr id="3" name="Content Placeholder 2"/>
          <p:cNvSpPr>
            <a:spLocks noGrp="1"/>
          </p:cNvSpPr>
          <p:nvPr>
            <p:ph idx="1"/>
          </p:nvPr>
        </p:nvSpPr>
        <p:spPr/>
        <p:txBody>
          <a:bodyPr/>
          <a:lstStyle/>
          <a:p>
            <a:pPr>
              <a:defRPr sz="2400"/>
            </a:pPr>
            <a:r>
              <a:t>JSON Web Token</a:t>
            </a:r>
          </a:p>
          <a:p>
            <a:pPr>
              <a:defRPr sz="2400"/>
            </a:pPr>
            <a:r>
              <a:t>Stateless authentication</a:t>
            </a:r>
          </a:p>
          <a:p>
            <a:pPr>
              <a:defRPr sz="2400"/>
            </a:pPr>
            <a:r>
              <a:t>Contains Header, Payload, Signature.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JWT?</a:t>
            </a:r>
          </a:p>
        </p:txBody>
      </p:sp>
      <p:sp>
        <p:nvSpPr>
          <p:cNvPr id="3" name="Content Placeholder 2"/>
          <p:cNvSpPr>
            <a:spLocks noGrp="1"/>
          </p:cNvSpPr>
          <p:nvPr>
            <p:ph idx="1"/>
          </p:nvPr>
        </p:nvSpPr>
        <p:spPr/>
        <p:txBody>
          <a:bodyPr>
            <a:normAutofit/>
          </a:bodyPr>
          <a:lstStyle/>
          <a:p>
            <a:r>
              <a:rPr lang="en-US" sz="2400" b="1" dirty="0" smtClean="0">
                <a:latin typeface="Times New Roman" pitchFamily="18" charset="0"/>
                <a:cs typeface="Times New Roman" pitchFamily="18" charset="0"/>
              </a:rPr>
              <a:t>What is JWT?</a:t>
            </a:r>
          </a:p>
          <a:p>
            <a:r>
              <a:rPr lang="en-US" sz="2400" b="1" dirty="0" smtClean="0">
                <a:latin typeface="Times New Roman" pitchFamily="18" charset="0"/>
                <a:cs typeface="Times New Roman" pitchFamily="18" charset="0"/>
              </a:rPr>
              <a:t>JWT stands for JSON Web Token.</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It is a secure token used to verify the identity of a user after they log in. Instead of asking the user to enter their username and password for every request, the client sends the JWT token to the server.</a:t>
            </a:r>
            <a:endParaRPr lang="en-US" sz="24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JWT?</a:t>
            </a:r>
          </a:p>
        </p:txBody>
      </p:sp>
      <p:sp>
        <p:nvSpPr>
          <p:cNvPr id="3" name="Content Placeholder 2"/>
          <p:cNvSpPr>
            <a:spLocks noGrp="1"/>
          </p:cNvSpPr>
          <p:nvPr>
            <p:ph idx="1"/>
          </p:nvPr>
        </p:nvSpPr>
        <p:spPr/>
        <p:txBody>
          <a:bodyPr>
            <a:normAutofit/>
          </a:bodyPr>
          <a:lstStyle/>
          <a:p>
            <a:r>
              <a:rPr lang="en-US" sz="2400" b="1" dirty="0" smtClean="0"/>
              <a:t>2. Stateless Authentication</a:t>
            </a:r>
          </a:p>
          <a:p>
            <a:r>
              <a:rPr lang="en-US" sz="2400" b="1" dirty="0" smtClean="0"/>
              <a:t>Explanation:</a:t>
            </a:r>
            <a:endParaRPr lang="en-US" sz="2400" dirty="0" smtClean="0"/>
          </a:p>
          <a:p>
            <a:r>
              <a:rPr lang="en-US" sz="2400" dirty="0" smtClean="0"/>
              <a:t>The server does not store session information. </a:t>
            </a:r>
          </a:p>
          <a:p>
            <a:r>
              <a:rPr lang="en-US" sz="2400" dirty="0" smtClean="0"/>
              <a:t>Every request contains the JWT token. </a:t>
            </a:r>
          </a:p>
          <a:p>
            <a:r>
              <a:rPr lang="en-US" sz="2400" dirty="0" smtClean="0"/>
              <a:t>The server validates the token and processes the request.</a:t>
            </a:r>
          </a:p>
          <a:p>
            <a:endParaRPr lang="en-US"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JWT?</a:t>
            </a:r>
          </a:p>
        </p:txBody>
      </p:sp>
      <p:sp>
        <p:nvSpPr>
          <p:cNvPr id="3" name="Content Placeholder 2"/>
          <p:cNvSpPr>
            <a:spLocks noGrp="1"/>
          </p:cNvSpPr>
          <p:nvPr>
            <p:ph idx="1"/>
          </p:nvPr>
        </p:nvSpPr>
        <p:spPr/>
        <p:txBody>
          <a:bodyPr>
            <a:normAutofit/>
          </a:bodyPr>
          <a:lstStyle/>
          <a:p>
            <a:r>
              <a:rPr lang="en-US" sz="2400" b="1" dirty="0" smtClean="0"/>
              <a:t>3. JWT Structure</a:t>
            </a:r>
          </a:p>
          <a:p>
            <a:r>
              <a:rPr lang="en-US" sz="2400" dirty="0" smtClean="0"/>
              <a:t>A JWT consists of </a:t>
            </a:r>
            <a:r>
              <a:rPr lang="en-US" sz="2400" b="1" dirty="0" smtClean="0"/>
              <a:t>three parts</a:t>
            </a:r>
            <a:r>
              <a:rPr lang="en-US" sz="2400" dirty="0" smtClean="0"/>
              <a:t> separated by dots:</a:t>
            </a:r>
          </a:p>
          <a:p>
            <a:r>
              <a:rPr lang="en-US" sz="2400" dirty="0" err="1" smtClean="0"/>
              <a:t>Header.Payload.Signature</a:t>
            </a:r>
            <a:endParaRPr lang="en-US" sz="2400" dirty="0" smtClean="0"/>
          </a:p>
          <a:p>
            <a:endParaRPr lang="en-IN" sz="2400" dirty="0" smtClean="0"/>
          </a:p>
          <a:p>
            <a:r>
              <a:rPr lang="en-US" sz="2400" dirty="0" smtClean="0"/>
              <a:t>eyJhbGciOiJIUzI1NiJ9.</a:t>
            </a:r>
          </a:p>
          <a:p>
            <a:r>
              <a:rPr lang="en-US" sz="2400" dirty="0" smtClean="0"/>
              <a:t>eyJzdWIiOiJhZG1pbiJ9.</a:t>
            </a:r>
          </a:p>
          <a:p>
            <a:r>
              <a:rPr lang="en-US" sz="2400" dirty="0" smtClean="0"/>
              <a:t>XyzAbc123Signature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JWT?</a:t>
            </a:r>
          </a:p>
        </p:txBody>
      </p:sp>
      <p:sp>
        <p:nvSpPr>
          <p:cNvPr id="3" name="Content Placeholder 2"/>
          <p:cNvSpPr>
            <a:spLocks noGrp="1"/>
          </p:cNvSpPr>
          <p:nvPr>
            <p:ph idx="1"/>
          </p:nvPr>
        </p:nvSpPr>
        <p:spPr/>
        <p:txBody>
          <a:bodyPr>
            <a:normAutofit/>
          </a:bodyPr>
          <a:lstStyle/>
          <a:p>
            <a:r>
              <a:rPr lang="en-US" sz="2400" b="1" dirty="0" smtClean="0"/>
              <a:t>Header</a:t>
            </a:r>
          </a:p>
          <a:p>
            <a:r>
              <a:rPr lang="en-US" sz="2400" dirty="0" smtClean="0"/>
              <a:t>Contains the token type (</a:t>
            </a:r>
            <a:r>
              <a:rPr lang="en-US" sz="2400" b="1" dirty="0" smtClean="0"/>
              <a:t>JWT</a:t>
            </a:r>
            <a:r>
              <a:rPr lang="en-US" sz="2400" dirty="0" smtClean="0"/>
              <a:t>) </a:t>
            </a:r>
          </a:p>
          <a:p>
            <a:r>
              <a:rPr lang="en-US" sz="2400" dirty="0" smtClean="0"/>
              <a:t>Contains the signing algorithm (</a:t>
            </a:r>
            <a:r>
              <a:rPr lang="en-US" sz="2400" b="1" dirty="0" smtClean="0"/>
              <a:t>HS256</a:t>
            </a:r>
            <a:r>
              <a:rPr lang="en-US" sz="2400" dirty="0" smtClean="0"/>
              <a:t>)</a:t>
            </a:r>
          </a:p>
          <a:p>
            <a:endParaRPr lang="en-IN" sz="2400" dirty="0" smtClean="0"/>
          </a:p>
          <a:p>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JWT?</a:t>
            </a:r>
          </a:p>
        </p:txBody>
      </p:sp>
      <p:sp>
        <p:nvSpPr>
          <p:cNvPr id="3" name="Content Placeholder 2"/>
          <p:cNvSpPr>
            <a:spLocks noGrp="1"/>
          </p:cNvSpPr>
          <p:nvPr>
            <p:ph idx="1"/>
          </p:nvPr>
        </p:nvSpPr>
        <p:spPr/>
        <p:txBody>
          <a:bodyPr>
            <a:normAutofit/>
          </a:bodyPr>
          <a:lstStyle/>
          <a:p>
            <a:r>
              <a:rPr lang="en-US" sz="2400" b="1" dirty="0" smtClean="0">
                <a:latin typeface="Times New Roman" pitchFamily="18" charset="0"/>
                <a:cs typeface="Times New Roman" pitchFamily="18" charset="0"/>
              </a:rPr>
              <a:t>Payload</a:t>
            </a:r>
          </a:p>
          <a:p>
            <a:r>
              <a:rPr lang="en-US" sz="2400" dirty="0" smtClean="0">
                <a:latin typeface="Times New Roman" pitchFamily="18" charset="0"/>
                <a:cs typeface="Times New Roman" pitchFamily="18" charset="0"/>
              </a:rPr>
              <a:t>Contains user information (called </a:t>
            </a:r>
            <a:r>
              <a:rPr lang="en-US" sz="2400" b="1" dirty="0" smtClean="0">
                <a:latin typeface="Times New Roman" pitchFamily="18" charset="0"/>
                <a:cs typeface="Times New Roman" pitchFamily="18" charset="0"/>
              </a:rPr>
              <a:t>claims</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Example: </a:t>
            </a:r>
          </a:p>
          <a:p>
            <a:pPr lvl="1"/>
            <a:r>
              <a:rPr lang="en-US" sz="2400" dirty="0" smtClean="0">
                <a:latin typeface="Times New Roman" pitchFamily="18" charset="0"/>
                <a:cs typeface="Times New Roman" pitchFamily="18" charset="0"/>
              </a:rPr>
              <a:t>Username </a:t>
            </a:r>
          </a:p>
          <a:p>
            <a:pPr lvl="1"/>
            <a:r>
              <a:rPr lang="en-US" sz="2400" dirty="0" smtClean="0">
                <a:latin typeface="Times New Roman" pitchFamily="18" charset="0"/>
                <a:cs typeface="Times New Roman" pitchFamily="18" charset="0"/>
              </a:rPr>
              <a:t>User ID </a:t>
            </a:r>
          </a:p>
          <a:p>
            <a:pPr lvl="1"/>
            <a:r>
              <a:rPr lang="en-US" sz="2400" dirty="0" smtClean="0">
                <a:latin typeface="Times New Roman" pitchFamily="18" charset="0"/>
                <a:cs typeface="Times New Roman" pitchFamily="18" charset="0"/>
              </a:rPr>
              <a:t>Roles </a:t>
            </a:r>
          </a:p>
          <a:p>
            <a:pPr lvl="1"/>
            <a:r>
              <a:rPr lang="en-US" sz="2400" dirty="0" smtClean="0">
                <a:latin typeface="Times New Roman" pitchFamily="18" charset="0"/>
                <a:cs typeface="Times New Roman" pitchFamily="18" charset="0"/>
              </a:rPr>
              <a:t>Expiration </a:t>
            </a:r>
            <a:r>
              <a:rPr lang="en-US" sz="2400" dirty="0" smtClean="0">
                <a:latin typeface="Times New Roman" pitchFamily="18" charset="0"/>
                <a:cs typeface="Times New Roman" pitchFamily="18" charset="0"/>
              </a:rPr>
              <a:t>time</a:t>
            </a:r>
            <a:endParaRPr lang="en-US" sz="24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JWT?</a:t>
            </a:r>
          </a:p>
        </p:txBody>
      </p:sp>
      <p:sp>
        <p:nvSpPr>
          <p:cNvPr id="3" name="Content Placeholder 2"/>
          <p:cNvSpPr>
            <a:spLocks noGrp="1"/>
          </p:cNvSpPr>
          <p:nvPr>
            <p:ph idx="1"/>
          </p:nvPr>
        </p:nvSpPr>
        <p:spPr/>
        <p:txBody>
          <a:bodyPr>
            <a:normAutofit/>
          </a:bodyPr>
          <a:lstStyle/>
          <a:p>
            <a:r>
              <a:rPr lang="en-US" sz="2400" b="1" dirty="0" smtClean="0"/>
              <a:t>Signature</a:t>
            </a:r>
          </a:p>
          <a:p>
            <a:r>
              <a:rPr lang="en-US" sz="2400" dirty="0" smtClean="0"/>
              <a:t>Created using the secret key. </a:t>
            </a:r>
          </a:p>
          <a:p>
            <a:r>
              <a:rPr lang="en-US" sz="2400" dirty="0" smtClean="0"/>
              <a:t>Ensures the token has not been modified. </a:t>
            </a:r>
          </a:p>
          <a:p>
            <a:r>
              <a:rPr lang="en-US" sz="2400" dirty="0" smtClean="0"/>
              <a:t>If anyone changes the token, the signature becomes invalid.</a:t>
            </a:r>
          </a:p>
          <a:p>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JWT?</a:t>
            </a:r>
          </a:p>
        </p:txBody>
      </p:sp>
      <p:sp>
        <p:nvSpPr>
          <p:cNvPr id="3" name="Content Placeholder 2"/>
          <p:cNvSpPr>
            <a:spLocks noGrp="1"/>
          </p:cNvSpPr>
          <p:nvPr>
            <p:ph idx="1"/>
          </p:nvPr>
        </p:nvSpPr>
        <p:spPr/>
        <p:txBody>
          <a:bodyPr>
            <a:normAutofit/>
          </a:bodyPr>
          <a:lstStyle/>
          <a:p>
            <a:r>
              <a:rPr lang="en-US" sz="2400" dirty="0" smtClean="0"/>
              <a:t>JWT stands for JSON Web Token. It is generated after a user logs in successfully. Instead of sending the username and password with every request, the client sends the JWT token. JWT is stateless, meaning the server does not store session data. A JWT consists of three parts: Header, Payload, and Signature. The Header contains the algorithm, the Payload contains user information, and the Signature ensures that the token has not been modified. This makes JWT a secure and efficient method for authentication in modern web applications."</a:t>
            </a:r>
            <a:endParaRPr lang="en-US" sz="24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a:t>
            </a:r>
          </a:p>
        </p:txBody>
      </p:sp>
      <p:sp>
        <p:nvSpPr>
          <p:cNvPr id="3" name="Content Placeholder 2"/>
          <p:cNvSpPr>
            <a:spLocks noGrp="1"/>
          </p:cNvSpPr>
          <p:nvPr>
            <p:ph idx="1"/>
          </p:nvPr>
        </p:nvSpPr>
        <p:spPr/>
        <p:txBody>
          <a:bodyPr/>
          <a:lstStyle/>
          <a:p>
            <a:pPr>
              <a:defRPr sz="2400"/>
            </a:pPr>
            <a:r>
              <a:t>React/Postman -&gt; Controller -&gt; Security Filter -&gt; JWT -&gt; MySQL Database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Structure</a:t>
            </a:r>
          </a:p>
        </p:txBody>
      </p:sp>
      <p:sp>
        <p:nvSpPr>
          <p:cNvPr id="3" name="Content Placeholder 2"/>
          <p:cNvSpPr>
            <a:spLocks noGrp="1"/>
          </p:cNvSpPr>
          <p:nvPr>
            <p:ph idx="1"/>
          </p:nvPr>
        </p:nvSpPr>
        <p:spPr/>
        <p:txBody>
          <a:bodyPr/>
          <a:lstStyle/>
          <a:p>
            <a:pPr>
              <a:defRPr sz="2400"/>
            </a:pPr>
            <a:r>
              <a:t>controller</a:t>
            </a:r>
          </a:p>
          <a:p>
            <a:pPr>
              <a:defRPr sz="2400"/>
            </a:pPr>
            <a:r>
              <a:t>config</a:t>
            </a:r>
          </a:p>
          <a:p>
            <a:pPr>
              <a:defRPr sz="2400"/>
            </a:pPr>
            <a:r>
              <a:t>security</a:t>
            </a:r>
          </a:p>
          <a:p>
            <a:pPr>
              <a:defRPr sz="2400"/>
            </a:pPr>
            <a:r>
              <a:t>entity</a:t>
            </a:r>
          </a:p>
          <a:p>
            <a:pPr>
              <a:defRPr sz="2400"/>
            </a:pPr>
            <a:r>
              <a:t>repository</a:t>
            </a:r>
          </a:p>
          <a:p>
            <a:pPr>
              <a:defRPr sz="2400"/>
            </a:pPr>
            <a:r>
              <a:t>dto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Registration Flow</a:t>
            </a:r>
          </a:p>
        </p:txBody>
      </p:sp>
      <p:sp>
        <p:nvSpPr>
          <p:cNvPr id="3" name="Content Placeholder 2"/>
          <p:cNvSpPr>
            <a:spLocks noGrp="1"/>
          </p:cNvSpPr>
          <p:nvPr>
            <p:ph idx="1"/>
          </p:nvPr>
        </p:nvSpPr>
        <p:spPr/>
        <p:txBody>
          <a:bodyPr/>
          <a:lstStyle/>
          <a:p>
            <a:pPr>
              <a:defRPr sz="2400"/>
            </a:pPr>
            <a:r>
              <a:t>User submits username/password</a:t>
            </a:r>
          </a:p>
          <a:p>
            <a:pPr>
              <a:defRPr sz="2400"/>
            </a:pPr>
            <a:r>
              <a:t>BCrypt encrypts password</a:t>
            </a:r>
          </a:p>
          <a:p>
            <a:pPr>
              <a:defRPr sz="2400"/>
            </a:pPr>
            <a:r>
              <a:t>Saved in MySQL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Login Flow</a:t>
            </a:r>
          </a:p>
        </p:txBody>
      </p:sp>
      <p:sp>
        <p:nvSpPr>
          <p:cNvPr id="3" name="Content Placeholder 2"/>
          <p:cNvSpPr>
            <a:spLocks noGrp="1"/>
          </p:cNvSpPr>
          <p:nvPr>
            <p:ph idx="1"/>
          </p:nvPr>
        </p:nvSpPr>
        <p:spPr/>
        <p:txBody>
          <a:bodyPr/>
          <a:lstStyle/>
          <a:p>
            <a:pPr>
              <a:defRPr sz="2400"/>
            </a:pPr>
            <a:r>
              <a:t>Validate credentials</a:t>
            </a:r>
          </a:p>
          <a:p>
            <a:pPr>
              <a:defRPr sz="2400"/>
            </a:pPr>
            <a:r>
              <a:t>Generate JWT</a:t>
            </a:r>
          </a:p>
          <a:p>
            <a:pPr>
              <a:defRPr sz="2400"/>
            </a:pPr>
            <a:r>
              <a:t>Return token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Login Flow</a:t>
            </a:r>
          </a:p>
        </p:txBody>
      </p:sp>
      <p:sp>
        <p:nvSpPr>
          <p:cNvPr id="3" name="Content Placeholder 2"/>
          <p:cNvSpPr>
            <a:spLocks noGrp="1"/>
          </p:cNvSpPr>
          <p:nvPr>
            <p:ph idx="1"/>
          </p:nvPr>
        </p:nvSpPr>
        <p:spPr/>
        <p:txBody>
          <a:bodyPr>
            <a:normAutofit/>
          </a:bodyPr>
          <a:lstStyle/>
          <a:p>
            <a:r>
              <a:rPr lang="en-US" sz="2800" b="1" dirty="0" smtClean="0">
                <a:latin typeface="Times New Roman" pitchFamily="18" charset="0"/>
                <a:cs typeface="Times New Roman" pitchFamily="18" charset="0"/>
              </a:rPr>
              <a:t>Real-Time Example 1: Gmail Login</a:t>
            </a:r>
          </a:p>
          <a:p>
            <a:r>
              <a:rPr lang="en-US" sz="2800" b="1" dirty="0" smtClean="0">
                <a:latin typeface="Times New Roman" pitchFamily="18" charset="0"/>
                <a:cs typeface="Times New Roman" pitchFamily="18" charset="0"/>
              </a:rPr>
              <a:t>Scenario:</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User enters email and password. </a:t>
            </a:r>
          </a:p>
          <a:p>
            <a:r>
              <a:rPr lang="en-US" sz="2800" dirty="0" smtClean="0">
                <a:latin typeface="Times New Roman" pitchFamily="18" charset="0"/>
                <a:cs typeface="Times New Roman" pitchFamily="18" charset="0"/>
              </a:rPr>
              <a:t>Spring Security checks the credentials. </a:t>
            </a:r>
          </a:p>
          <a:p>
            <a:r>
              <a:rPr lang="en-US" sz="2800" dirty="0" smtClean="0">
                <a:latin typeface="Times New Roman" pitchFamily="18" charset="0"/>
                <a:cs typeface="Times New Roman" pitchFamily="18" charset="0"/>
              </a:rPr>
              <a:t>If correct, the server generates a JWT token. </a:t>
            </a:r>
          </a:p>
          <a:p>
            <a:r>
              <a:rPr lang="en-US" sz="2800" dirty="0" smtClean="0">
                <a:latin typeface="Times New Roman" pitchFamily="18" charset="0"/>
                <a:cs typeface="Times New Roman" pitchFamily="18" charset="0"/>
              </a:rPr>
              <a:t>Every request (Inbox, Drive, Photos) sends the token. </a:t>
            </a:r>
          </a:p>
          <a:p>
            <a:r>
              <a:rPr lang="en-US" sz="2800" dirty="0" smtClean="0">
                <a:latin typeface="Times New Roman" pitchFamily="18" charset="0"/>
                <a:cs typeface="Times New Roman" pitchFamily="18" charset="0"/>
              </a:rPr>
              <a:t>The server validates the token and allows access.</a:t>
            </a:r>
            <a:endParaRPr lang="en-US" sz="28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Login Flow</a:t>
            </a:r>
          </a:p>
        </p:txBody>
      </p:sp>
      <p:sp>
        <p:nvSpPr>
          <p:cNvPr id="3" name="Content Placeholder 2"/>
          <p:cNvSpPr>
            <a:spLocks noGrp="1"/>
          </p:cNvSpPr>
          <p:nvPr>
            <p:ph idx="1"/>
          </p:nvPr>
        </p:nvSpPr>
        <p:spPr/>
        <p:txBody>
          <a:bodyPr>
            <a:normAutofit fontScale="62500" lnSpcReduction="20000"/>
          </a:bodyPr>
          <a:lstStyle/>
          <a:p>
            <a:r>
              <a:rPr lang="en-US" sz="2800" dirty="0" smtClean="0">
                <a:latin typeface="Times New Roman" pitchFamily="18" charset="0"/>
                <a:cs typeface="Times New Roman" pitchFamily="18" charset="0"/>
              </a:rPr>
              <a:t>Login</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Username + Password</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Credentials Verified</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JWT Token Generated</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Token Sent to Browser</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User Opens Gmail Inbox</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Token Verified</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Access Granted</a:t>
            </a:r>
            <a:endParaRPr lang="en-US" sz="28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Login Flow</a:t>
            </a:r>
          </a:p>
        </p:txBody>
      </p:sp>
      <p:sp>
        <p:nvSpPr>
          <p:cNvPr id="3" name="Content Placeholder 2"/>
          <p:cNvSpPr>
            <a:spLocks noGrp="1"/>
          </p:cNvSpPr>
          <p:nvPr>
            <p:ph idx="1"/>
          </p:nvPr>
        </p:nvSpPr>
        <p:spPr/>
        <p:txBody>
          <a:bodyPr>
            <a:normAutofit/>
          </a:bodyPr>
          <a:lstStyle/>
          <a:p>
            <a:r>
              <a:rPr lang="en-US" sz="2400" b="1" dirty="0" smtClean="0">
                <a:latin typeface="Times New Roman" pitchFamily="18" charset="0"/>
                <a:cs typeface="Times New Roman" pitchFamily="18" charset="0"/>
              </a:rPr>
              <a:t>Real-Time Example 2: Amazon Shopping App</a:t>
            </a:r>
          </a:p>
          <a:p>
            <a:r>
              <a:rPr lang="en-US" sz="2400" b="1" dirty="0" smtClean="0">
                <a:latin typeface="Times New Roman" pitchFamily="18" charset="0"/>
                <a:cs typeface="Times New Roman" pitchFamily="18" charset="0"/>
              </a:rPr>
              <a:t>Scenario:</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Customer logs in using username and password. </a:t>
            </a:r>
          </a:p>
          <a:p>
            <a:r>
              <a:rPr lang="en-US" sz="2400" dirty="0" smtClean="0">
                <a:latin typeface="Times New Roman" pitchFamily="18" charset="0"/>
                <a:cs typeface="Times New Roman" pitchFamily="18" charset="0"/>
              </a:rPr>
              <a:t>Amazon generates a JWT token. </a:t>
            </a:r>
          </a:p>
          <a:p>
            <a:r>
              <a:rPr lang="en-US" sz="2400" dirty="0" smtClean="0">
                <a:latin typeface="Times New Roman" pitchFamily="18" charset="0"/>
                <a:cs typeface="Times New Roman" pitchFamily="18" charset="0"/>
              </a:rPr>
              <a:t>While browsing products, adding items to the cart, or placing an order, the same token is sent with every request. </a:t>
            </a:r>
          </a:p>
          <a:p>
            <a:r>
              <a:rPr lang="en-US" sz="2400" dirty="0" smtClean="0">
                <a:latin typeface="Times New Roman" pitchFamily="18" charset="0"/>
                <a:cs typeface="Times New Roman" pitchFamily="18" charset="0"/>
              </a:rPr>
              <a:t>If the token is valid, the customer remains logged in.</a:t>
            </a:r>
          </a:p>
          <a:p>
            <a:endParaRPr lang="en-US" sz="28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Login Flow</a:t>
            </a: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Customer Login</a:t>
            </a:r>
          </a:p>
          <a:p>
            <a:r>
              <a:rPr lang="en-US" dirty="0" smtClean="0"/>
              <a:t>      ↓</a:t>
            </a:r>
          </a:p>
          <a:p>
            <a:r>
              <a:rPr lang="en-US" dirty="0" smtClean="0"/>
              <a:t>Validate Username &amp; Password</a:t>
            </a:r>
          </a:p>
          <a:p>
            <a:r>
              <a:rPr lang="en-US" dirty="0" smtClean="0"/>
              <a:t>      ↓</a:t>
            </a:r>
          </a:p>
          <a:p>
            <a:r>
              <a:rPr lang="en-US" dirty="0" smtClean="0"/>
              <a:t>Generate JWT</a:t>
            </a:r>
          </a:p>
          <a:p>
            <a:r>
              <a:rPr lang="en-US" dirty="0" smtClean="0"/>
              <a:t>      ↓</a:t>
            </a:r>
          </a:p>
          <a:p>
            <a:r>
              <a:rPr lang="en-US" dirty="0" smtClean="0"/>
              <a:t>Store Token</a:t>
            </a:r>
          </a:p>
          <a:p>
            <a:r>
              <a:rPr lang="en-US" dirty="0" smtClean="0"/>
              <a:t>      ↓</a:t>
            </a:r>
          </a:p>
          <a:p>
            <a:r>
              <a:rPr lang="en-US" dirty="0" smtClean="0"/>
              <a:t>Browse Products</a:t>
            </a:r>
          </a:p>
          <a:p>
            <a:r>
              <a:rPr lang="en-US" dirty="0" smtClean="0"/>
              <a:t>      ↓</a:t>
            </a:r>
          </a:p>
          <a:p>
            <a:r>
              <a:rPr lang="en-US" dirty="0" smtClean="0"/>
              <a:t>Add to Cart</a:t>
            </a:r>
          </a:p>
          <a:p>
            <a:r>
              <a:rPr lang="en-US" dirty="0" smtClean="0"/>
              <a:t>      ↓</a:t>
            </a:r>
          </a:p>
          <a:p>
            <a:r>
              <a:rPr lang="en-US" dirty="0" smtClean="0"/>
              <a:t>Place Order</a:t>
            </a:r>
          </a:p>
          <a:p>
            <a:r>
              <a:rPr lang="en-US" dirty="0" smtClean="0"/>
              <a:t>      ↓</a:t>
            </a:r>
          </a:p>
          <a:p>
            <a:r>
              <a:rPr lang="en-US" dirty="0" smtClean="0"/>
              <a:t>JWT Verified</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JWT Filter</a:t>
            </a:r>
          </a:p>
        </p:txBody>
      </p:sp>
      <p:sp>
        <p:nvSpPr>
          <p:cNvPr id="3" name="Content Placeholder 2"/>
          <p:cNvSpPr>
            <a:spLocks noGrp="1"/>
          </p:cNvSpPr>
          <p:nvPr>
            <p:ph idx="1"/>
          </p:nvPr>
        </p:nvSpPr>
        <p:spPr/>
        <p:txBody>
          <a:bodyPr/>
          <a:lstStyle/>
          <a:p>
            <a:pPr>
              <a:defRPr sz="2400"/>
            </a:pPr>
            <a:r>
              <a:t>Reads Authorization header</a:t>
            </a:r>
          </a:p>
          <a:p>
            <a:pPr>
              <a:defRPr sz="2400"/>
            </a:pPr>
            <a:r>
              <a:t>Validates token</a:t>
            </a:r>
          </a:p>
          <a:p>
            <a:pPr>
              <a:defRPr sz="2400"/>
            </a:pPr>
            <a:r>
              <a:t>Authenticates request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JWT Filter</a:t>
            </a:r>
          </a:p>
        </p:txBody>
      </p:sp>
      <p:sp>
        <p:nvSpPr>
          <p:cNvPr id="3" name="Content Placeholder 2"/>
          <p:cNvSpPr>
            <a:spLocks noGrp="1"/>
          </p:cNvSpPr>
          <p:nvPr>
            <p:ph idx="1"/>
          </p:nvPr>
        </p:nvSpPr>
        <p:spPr/>
        <p:txBody>
          <a:bodyPr>
            <a:normAutofit/>
          </a:bodyPr>
          <a:lstStyle/>
          <a:p>
            <a:r>
              <a:rPr lang="en-US" sz="2800" b="1" dirty="0" smtClean="0">
                <a:latin typeface="Times New Roman" pitchFamily="18" charset="0"/>
                <a:cs typeface="Times New Roman" pitchFamily="18" charset="0"/>
              </a:rPr>
              <a:t>Real-Time Example: College Student Portal</a:t>
            </a:r>
          </a:p>
          <a:p>
            <a:r>
              <a:rPr lang="en-US" sz="2800" b="1" dirty="0" smtClean="0">
                <a:latin typeface="Times New Roman" pitchFamily="18" charset="0"/>
                <a:cs typeface="Times New Roman" pitchFamily="18" charset="0"/>
              </a:rPr>
              <a:t>Scenario</a:t>
            </a:r>
          </a:p>
          <a:p>
            <a:r>
              <a:rPr lang="en-US" sz="2800" dirty="0" smtClean="0">
                <a:latin typeface="Times New Roman" pitchFamily="18" charset="0"/>
                <a:cs typeface="Times New Roman" pitchFamily="18" charset="0"/>
              </a:rPr>
              <a:t>A student has already logged in and received a JWT token.</a:t>
            </a:r>
          </a:p>
          <a:p>
            <a:r>
              <a:rPr lang="en-US" sz="2800" dirty="0" smtClean="0">
                <a:latin typeface="Times New Roman" pitchFamily="18" charset="0"/>
                <a:cs typeface="Times New Roman" pitchFamily="18" charset="0"/>
              </a:rPr>
              <a:t>Now the student clicks </a:t>
            </a:r>
            <a:r>
              <a:rPr lang="en-US" sz="2800" b="1" dirty="0" smtClean="0">
                <a:latin typeface="Times New Roman" pitchFamily="18" charset="0"/>
                <a:cs typeface="Times New Roman" pitchFamily="18" charset="0"/>
              </a:rPr>
              <a:t>"View Attendance"</a:t>
            </a:r>
            <a:endParaRPr lang="en-US" sz="28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JWT Filter</a:t>
            </a:r>
          </a:p>
        </p:txBody>
      </p:sp>
      <p:sp>
        <p:nvSpPr>
          <p:cNvPr id="3" name="Content Placeholder 2"/>
          <p:cNvSpPr>
            <a:spLocks noGrp="1"/>
          </p:cNvSpPr>
          <p:nvPr>
            <p:ph idx="1"/>
          </p:nvPr>
        </p:nvSpPr>
        <p:spPr/>
        <p:txBody>
          <a:bodyPr>
            <a:normAutofit fontScale="47500" lnSpcReduction="20000"/>
          </a:bodyPr>
          <a:lstStyle/>
          <a:p>
            <a:r>
              <a:rPr lang="en-US" sz="2800" dirty="0" smtClean="0">
                <a:latin typeface="Times New Roman" pitchFamily="18" charset="0"/>
                <a:cs typeface="Times New Roman" pitchFamily="18" charset="0"/>
              </a:rPr>
              <a:t>Student Clicks "View Attendance"</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Request Sent to Server</a:t>
            </a:r>
          </a:p>
          <a:p>
            <a:r>
              <a:rPr lang="en-US" sz="2800" dirty="0" smtClean="0">
                <a:latin typeface="Times New Roman" pitchFamily="18" charset="0"/>
                <a:cs typeface="Times New Roman" pitchFamily="18" charset="0"/>
              </a:rPr>
              <a:t>Authorization: Bearer eyJhbGciOiJIUzI1NiJ9...</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JWT Filter Reads the Token</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Checks Whether the Token is Valid</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      │           │</a:t>
            </a:r>
          </a:p>
          <a:p>
            <a:r>
              <a:rPr lang="en-US" sz="2800" dirty="0" smtClean="0">
                <a:latin typeface="Times New Roman" pitchFamily="18" charset="0"/>
                <a:cs typeface="Times New Roman" pitchFamily="18" charset="0"/>
              </a:rPr>
              <a:t>   Valid       Invalid</a:t>
            </a:r>
          </a:p>
          <a:p>
            <a:r>
              <a:rPr lang="en-US" sz="2800" dirty="0" smtClean="0">
                <a:latin typeface="Times New Roman" pitchFamily="18" charset="0"/>
                <a:cs typeface="Times New Roman" pitchFamily="18" charset="0"/>
              </a:rPr>
              <a:t>      │           │</a:t>
            </a:r>
          </a:p>
          <a:p>
            <a:r>
              <a:rPr lang="en-US" sz="2800" dirty="0" smtClean="0">
                <a:latin typeface="Times New Roman" pitchFamily="18" charset="0"/>
                <a:cs typeface="Times New Roman" pitchFamily="18" charset="0"/>
              </a:rPr>
              <a:t>      ▼           ▼</a:t>
            </a:r>
          </a:p>
          <a:p>
            <a:r>
              <a:rPr lang="en-US" sz="2800" dirty="0" smtClean="0">
                <a:latin typeface="Times New Roman" pitchFamily="18" charset="0"/>
                <a:cs typeface="Times New Roman" pitchFamily="18" charset="0"/>
              </a:rPr>
              <a:t>Allow Access   Return 401 Unauthorized</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Attendance Displayed</a:t>
            </a:r>
            <a:endParaRPr lang="en-US" sz="28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SecurityConfig</a:t>
            </a:r>
          </a:p>
        </p:txBody>
      </p:sp>
      <p:sp>
        <p:nvSpPr>
          <p:cNvPr id="3" name="Content Placeholder 2"/>
          <p:cNvSpPr>
            <a:spLocks noGrp="1"/>
          </p:cNvSpPr>
          <p:nvPr>
            <p:ph idx="1"/>
          </p:nvPr>
        </p:nvSpPr>
        <p:spPr/>
        <p:txBody>
          <a:bodyPr/>
          <a:lstStyle/>
          <a:p>
            <a:pPr>
              <a:defRPr sz="2400"/>
            </a:pPr>
            <a:r>
              <a:t>Disable CSRF</a:t>
            </a:r>
          </a:p>
          <a:p>
            <a:pPr>
              <a:defRPr sz="2400"/>
            </a:pPr>
            <a:r>
              <a:t>Stateless session</a:t>
            </a:r>
          </a:p>
          <a:p>
            <a:pPr>
              <a:defRPr sz="2400"/>
            </a:pPr>
            <a:r>
              <a:t>Permit /register &amp; /login</a:t>
            </a:r>
          </a:p>
          <a:p>
            <a:pPr>
              <a:defRPr sz="2400"/>
            </a:pPr>
            <a:r>
              <a:t>Protect remaining APIs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API Testing</a:t>
            </a:r>
          </a:p>
        </p:txBody>
      </p:sp>
      <p:sp>
        <p:nvSpPr>
          <p:cNvPr id="3" name="Content Placeholder 2"/>
          <p:cNvSpPr>
            <a:spLocks noGrp="1"/>
          </p:cNvSpPr>
          <p:nvPr>
            <p:ph idx="1"/>
          </p:nvPr>
        </p:nvSpPr>
        <p:spPr/>
        <p:txBody>
          <a:bodyPr/>
          <a:lstStyle/>
          <a:p>
            <a:pPr>
              <a:defRPr sz="2400"/>
            </a:pPr>
            <a:r>
              <a:t>POST /register</a:t>
            </a:r>
          </a:p>
          <a:p>
            <a:pPr>
              <a:defRPr sz="2400"/>
            </a:pPr>
            <a:r>
              <a:t>POST /login</a:t>
            </a:r>
          </a:p>
          <a:p>
            <a:pPr>
              <a:defRPr sz="2400"/>
            </a:pPr>
            <a:r>
              <a:t>GET /welcome with Bearer Token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a:t>
            </a:r>
          </a:p>
        </p:txBody>
      </p:sp>
      <p:sp>
        <p:nvSpPr>
          <p:cNvPr id="3" name="Content Placeholder 2"/>
          <p:cNvSpPr>
            <a:spLocks noGrp="1"/>
          </p:cNvSpPr>
          <p:nvPr>
            <p:ph idx="1"/>
          </p:nvPr>
        </p:nvSpPr>
        <p:spPr/>
        <p:txBody>
          <a:bodyPr/>
          <a:lstStyle/>
          <a:p>
            <a:pPr>
              <a:defRPr sz="2400"/>
            </a:pPr>
            <a:r>
              <a:t>Stateless</a:t>
            </a:r>
          </a:p>
          <a:p>
            <a:pPr>
              <a:defRPr sz="2400"/>
            </a:pPr>
            <a:r>
              <a:t>Secure</a:t>
            </a:r>
          </a:p>
          <a:p>
            <a:pPr>
              <a:defRPr sz="2400"/>
            </a:pPr>
            <a:r>
              <a:t>Scalable</a:t>
            </a:r>
          </a:p>
          <a:p>
            <a:pPr>
              <a:defRPr sz="2400"/>
            </a:pPr>
            <a:r>
              <a:t>Fast authentication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itchFamily="18" charset="0"/>
                <a:cs typeface="Times New Roman" pitchFamily="18" charset="0"/>
              </a:rPr>
              <a:t>Advantages of Spring Security with JWT</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b="1" dirty="0" smtClean="0">
                <a:latin typeface="Times New Roman" pitchFamily="18" charset="0"/>
                <a:cs typeface="Times New Roman" pitchFamily="18" charset="0"/>
              </a:rPr>
              <a:t>1. Stateless</a:t>
            </a:r>
          </a:p>
          <a:p>
            <a:r>
              <a:rPr lang="en-US" sz="2400" b="1" dirty="0" smtClean="0">
                <a:latin typeface="Times New Roman" pitchFamily="18" charset="0"/>
                <a:cs typeface="Times New Roman" pitchFamily="18" charset="0"/>
              </a:rPr>
              <a:t>Explanation:</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server does </a:t>
            </a:r>
            <a:r>
              <a:rPr lang="en-US" sz="2400" b="1" dirty="0" smtClean="0">
                <a:latin typeface="Times New Roman" pitchFamily="18" charset="0"/>
                <a:cs typeface="Times New Roman" pitchFamily="18" charset="0"/>
              </a:rPr>
              <a:t>not</a:t>
            </a:r>
            <a:r>
              <a:rPr lang="en-US" sz="2400" dirty="0" smtClean="0">
                <a:latin typeface="Times New Roman" pitchFamily="18" charset="0"/>
                <a:cs typeface="Times New Roman" pitchFamily="18" charset="0"/>
              </a:rPr>
              <a:t> store user session data. </a:t>
            </a:r>
          </a:p>
          <a:p>
            <a:r>
              <a:rPr lang="en-US" sz="2400" dirty="0" smtClean="0">
                <a:latin typeface="Times New Roman" pitchFamily="18" charset="0"/>
                <a:cs typeface="Times New Roman" pitchFamily="18" charset="0"/>
              </a:rPr>
              <a:t>Every request contains the JWT token, so the server can identify the user without remembering previous requests. </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itchFamily="18" charset="0"/>
                <a:cs typeface="Times New Roman" pitchFamily="18" charset="0"/>
              </a:rPr>
              <a:t>Advantages of Spring Security with JWT</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b="1" dirty="0" smtClean="0">
                <a:latin typeface="Times New Roman" pitchFamily="18" charset="0"/>
                <a:cs typeface="Times New Roman" pitchFamily="18" charset="0"/>
              </a:rPr>
              <a:t>2. Secure</a:t>
            </a:r>
          </a:p>
          <a:p>
            <a:r>
              <a:rPr lang="en-US" sz="2400" b="1" dirty="0" smtClean="0">
                <a:latin typeface="Times New Roman" pitchFamily="18" charset="0"/>
                <a:cs typeface="Times New Roman" pitchFamily="18" charset="0"/>
              </a:rPr>
              <a:t>Explanation:</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Passwords are stored in encrypted form using </a:t>
            </a:r>
            <a:r>
              <a:rPr lang="en-US" sz="2400" b="1" dirty="0" err="1" smtClean="0">
                <a:latin typeface="Times New Roman" pitchFamily="18" charset="0"/>
                <a:cs typeface="Times New Roman" pitchFamily="18" charset="0"/>
              </a:rPr>
              <a:t>BCrypt</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JWT tokens are digitally signed, so they cannot be modified without detection.</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itchFamily="18" charset="0"/>
                <a:cs typeface="Times New Roman" pitchFamily="18" charset="0"/>
              </a:rPr>
              <a:t>Advantages of Spring Security with JWT</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b="1" dirty="0" smtClean="0">
                <a:latin typeface="Times New Roman" pitchFamily="18" charset="0"/>
                <a:cs typeface="Times New Roman" pitchFamily="18" charset="0"/>
              </a:rPr>
              <a:t>3. Scalable</a:t>
            </a:r>
          </a:p>
          <a:p>
            <a:r>
              <a:rPr lang="en-US" sz="2400" b="1" dirty="0" smtClean="0">
                <a:latin typeface="Times New Roman" pitchFamily="18" charset="0"/>
                <a:cs typeface="Times New Roman" pitchFamily="18" charset="0"/>
              </a:rPr>
              <a:t>Explanation:</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Since there are no server-side sessions, multiple servers can handle requests. </a:t>
            </a:r>
          </a:p>
          <a:p>
            <a:r>
              <a:rPr lang="en-US" sz="2400" dirty="0" smtClean="0">
                <a:latin typeface="Times New Roman" pitchFamily="18" charset="0"/>
                <a:cs typeface="Times New Roman" pitchFamily="18" charset="0"/>
              </a:rPr>
              <a:t>This makes it suitable for cloud and </a:t>
            </a:r>
            <a:r>
              <a:rPr lang="en-US" sz="2400" dirty="0" err="1" smtClean="0">
                <a:latin typeface="Times New Roman" pitchFamily="18" charset="0"/>
                <a:cs typeface="Times New Roman" pitchFamily="18" charset="0"/>
              </a:rPr>
              <a:t>microservice</a:t>
            </a:r>
            <a:r>
              <a:rPr lang="en-US" sz="2400" dirty="0" smtClean="0">
                <a:latin typeface="Times New Roman" pitchFamily="18" charset="0"/>
                <a:cs typeface="Times New Roman" pitchFamily="18" charset="0"/>
              </a:rPr>
              <a:t> architectures</a:t>
            </a:r>
            <a:r>
              <a:rPr lang="en-US" sz="2400" dirty="0" smtClean="0"/>
              <a:t>.</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itchFamily="18" charset="0"/>
                <a:cs typeface="Times New Roman" pitchFamily="18" charset="0"/>
              </a:rPr>
              <a:t>Advantages of Spring Security with JWT</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b="1" dirty="0" smtClean="0">
                <a:latin typeface="Times New Roman" pitchFamily="18" charset="0"/>
                <a:cs typeface="Times New Roman" pitchFamily="18" charset="0"/>
              </a:rPr>
              <a:t>4. Fast Authentication</a:t>
            </a:r>
          </a:p>
          <a:p>
            <a:r>
              <a:rPr lang="en-US" sz="2400" b="1" dirty="0" smtClean="0">
                <a:latin typeface="Times New Roman" pitchFamily="18" charset="0"/>
                <a:cs typeface="Times New Roman" pitchFamily="18" charset="0"/>
              </a:rPr>
              <a:t>Explanation:</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After login, users don't enter their username and password for every request. </a:t>
            </a:r>
          </a:p>
          <a:p>
            <a:r>
              <a:rPr lang="en-US" sz="2400" dirty="0" smtClean="0">
                <a:latin typeface="Times New Roman" pitchFamily="18" charset="0"/>
                <a:cs typeface="Times New Roman" pitchFamily="18" charset="0"/>
              </a:rPr>
              <a:t>Only the JWT token is sent and verified, making authentication quicker.</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Interview Questions</a:t>
            </a:r>
          </a:p>
        </p:txBody>
      </p:sp>
      <p:sp>
        <p:nvSpPr>
          <p:cNvPr id="3" name="Content Placeholder 2"/>
          <p:cNvSpPr>
            <a:spLocks noGrp="1"/>
          </p:cNvSpPr>
          <p:nvPr>
            <p:ph idx="1"/>
          </p:nvPr>
        </p:nvSpPr>
        <p:spPr/>
        <p:txBody>
          <a:bodyPr/>
          <a:lstStyle/>
          <a:p>
            <a:pPr>
              <a:defRPr sz="2400"/>
            </a:pPr>
            <a:r>
              <a:t>What is JWT?</a:t>
            </a:r>
          </a:p>
          <a:p>
            <a:pPr>
              <a:defRPr sz="2400"/>
            </a:pPr>
            <a:r>
              <a:t>Why BCrypt?</a:t>
            </a:r>
          </a:p>
          <a:p>
            <a:pPr>
              <a:defRPr sz="2400"/>
            </a:pPr>
            <a:r>
              <a:t>Why JwtFilter?</a:t>
            </a:r>
          </a:p>
          <a:p>
            <a:pPr>
              <a:defRPr sz="2400"/>
            </a:pPr>
            <a:r>
              <a:t>Difference between Session and JWT?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defRPr sz="2400"/>
            </a:pPr>
            <a:r>
              <a:t>Implemented secure authentication using Spring Security, JWT and MySQL.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TotalTime>
  <Words>900</Words>
  <Application>Microsoft Macintosh PowerPoint</Application>
  <PresentationFormat>On-screen Show (4:3)</PresentationFormat>
  <Paragraphs>193</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Spring Security + JWT + MySQL</vt:lpstr>
      <vt:lpstr>Agenda</vt:lpstr>
      <vt:lpstr>What is Spring Security?</vt:lpstr>
      <vt:lpstr>What is JWT?</vt:lpstr>
      <vt:lpstr>What is JWT?</vt:lpstr>
      <vt:lpstr>What is JWT?</vt:lpstr>
      <vt:lpstr>What is JWT?</vt:lpstr>
      <vt:lpstr>What is JWT?</vt:lpstr>
      <vt:lpstr>What is JWT?</vt:lpstr>
      <vt:lpstr>What is JWT?</vt:lpstr>
      <vt:lpstr>What is JWT?</vt:lpstr>
      <vt:lpstr>Architecture</vt:lpstr>
      <vt:lpstr>Project Structure</vt:lpstr>
      <vt:lpstr>Registration Flow</vt:lpstr>
      <vt:lpstr>Login Flow</vt:lpstr>
      <vt:lpstr>Login Flow</vt:lpstr>
      <vt:lpstr>Login Flow</vt:lpstr>
      <vt:lpstr>Login Flow</vt:lpstr>
      <vt:lpstr>Login Flow</vt:lpstr>
      <vt:lpstr>JWT Filter</vt:lpstr>
      <vt:lpstr>JWT Filter</vt:lpstr>
      <vt:lpstr>JWT Filter</vt:lpstr>
      <vt:lpstr>SecurityConfig</vt:lpstr>
      <vt:lpstr>API Testing</vt:lpstr>
      <vt:lpstr>Advantages</vt:lpstr>
      <vt:lpstr>Advantages of Spring Security with JWT</vt:lpstr>
      <vt:lpstr>Advantages of Spring Security with JWT</vt:lpstr>
      <vt:lpstr>Advantages of Spring Security with JWT</vt:lpstr>
      <vt:lpstr>Advantages of Spring Security with JWT</vt:lpstr>
      <vt:lpstr>Interview Questions</vt:lpstr>
      <vt:lpstr>Conclusion</vt:lpstr>
    </vt:vector>
  </TitlesOfParts>
  <Manager/>
  <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Security + JWT + MySQL</dc:title>
  <dc:subject/>
  <dc:creator/>
  <cp:keywords/>
  <dc:description>generated using python-pptx</dc:description>
  <cp:lastModifiedBy>USER</cp:lastModifiedBy>
  <cp:revision>27</cp:revision>
  <dcterms:created xsi:type="dcterms:W3CDTF">2013-01-27T09:14:16Z</dcterms:created>
  <dcterms:modified xsi:type="dcterms:W3CDTF">2026-07-03T16:27:13Z</dcterms:modified>
  <cp:category/>
</cp:coreProperties>
</file>